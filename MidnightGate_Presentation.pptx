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0" y="914400"/>
            <a:ext cx="10362895" cy="5029200"/>
          </a:xfrm>
          <a:prstGeom prst="roundRect">
            <a:avLst/>
          </a:prstGeom>
          <a:solidFill>
            <a:srgbClr val="131A2B"/>
          </a:solidFill>
          <a:ln w="1905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645920"/>
            <a:ext cx="9448495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00C7B7"/>
                </a:solidFill>
              </a:defRPr>
            </a:pPr>
            <a:r>
              <a:t>🌙 MidnightGate</a:t>
            </a:r>
          </a:p>
          <a:p>
            <a:pPr algn="ctr">
              <a:defRPr sz="2600" b="1">
                <a:solidFill>
                  <a:srgbClr val="F3F4F6"/>
                </a:solidFill>
              </a:defRPr>
            </a:pPr>
            <a:r>
              <a:t>Zero-Knowledge Net Worth &amp; Accredited Investor Verifier</a:t>
            </a:r>
          </a:p>
          <a:p>
            <a:br/>
            <a:pPr algn="ctr">
              <a:defRPr sz="1600">
                <a:solidFill>
                  <a:srgbClr val="9CA3AF"/>
                </a:solidFill>
              </a:defRPr>
            </a:pPr>
            <a:r>
              <a:t>Built for the Rise In Monthly Moonshots on Midnight Challenge (Levels 1, 2, 3)</a:t>
            </a:r>
            <a:br/>
            <a:r>
              <a:t>Powered by Midnight Compact &amp; Dual-State ZK Architecture</a:t>
            </a:r>
          </a:p>
          <a:p>
            <a:br/>
            <a:pPr algn="ctr">
              <a:defRPr sz="1400">
                <a:solidFill>
                  <a:srgbClr val="8B5CF6"/>
                </a:solidFill>
              </a:defRPr>
            </a:pPr>
            <a:r>
              <a:t>Live DApp: moonlightmidnightgate.netlify.app  |  GitHub: github.com/Jaydeep806/MidnightGate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48640"/>
            <a:ext cx="103628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C7B7"/>
                </a:solidFill>
              </a:defRPr>
            </a:pPr>
            <a:r>
              <a:t>The Problem vs The MidnightGate ZK Solution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645920"/>
            <a:ext cx="4937760" cy="4572000"/>
          </a:xfrm>
          <a:prstGeom prst="roundRect">
            <a:avLst/>
          </a:prstGeom>
          <a:solidFill>
            <a:srgbClr val="131A2B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828800"/>
            <a:ext cx="4572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87171"/>
                </a:solidFill>
              </a:defRPr>
            </a:pPr>
            <a:r>
              <a:t>❌ Traditional Compliance &amp; KYC</a:t>
            </a:r>
          </a:p>
          <a:p>
            <a:pPr>
              <a:defRPr sz="1300">
                <a:solidFill>
                  <a:srgbClr val="F3F4F6"/>
                </a:solidFill>
              </a:defRPr>
            </a:pPr>
            <a:r>
              <a:t>• Invasive Doxxing: Users must upload unredacted bank balances, brokerage accounts, and tax returns.</a:t>
            </a:r>
          </a:p>
          <a:p>
            <a:pPr>
              <a:defRPr sz="1300">
                <a:solidFill>
                  <a:srgbClr val="F3F4F6"/>
                </a:solidFill>
              </a:defRPr>
            </a:pPr>
            <a:r>
              <a:t>• Centralized Honeypots: KYC brokers store vulnerable financial records prone to hacks and extortion.</a:t>
            </a:r>
          </a:p>
          <a:p>
            <a:pPr>
              <a:defRPr sz="1300">
                <a:solidFill>
                  <a:srgbClr val="F3F4F6"/>
                </a:solidFill>
              </a:defRPr>
            </a:pPr>
            <a:r>
              <a:t>• On-Chain Linkability: Doxxed wallets permanently connect real identities to public blockchain activity.</a:t>
            </a:r>
          </a:p>
          <a:p>
            <a:pPr>
              <a:defRPr sz="1300">
                <a:solidFill>
                  <a:srgbClr val="F3F4F6"/>
                </a:solidFill>
              </a:defRPr>
            </a:pPr>
            <a:r>
              <a:t>• High Friction: Manual review takes days to weeks, killing DeFi liquidity onboarding.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1645920"/>
            <a:ext cx="4937760" cy="4572000"/>
          </a:xfrm>
          <a:prstGeom prst="roundRect">
            <a:avLst/>
          </a:prstGeom>
          <a:solidFill>
            <a:srgbClr val="131A2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0" y="1828800"/>
            <a:ext cx="4572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0B981"/>
                </a:solidFill>
              </a:defRPr>
            </a:pPr>
            <a:r>
              <a:t>✅ MidnightGate ZK Protocol</a:t>
            </a:r>
          </a:p>
          <a:p>
            <a:pPr>
              <a:defRPr sz="1300">
                <a:solidFill>
                  <a:srgbClr val="F3F4F6"/>
                </a:solidFill>
              </a:defRPr>
            </a:pPr>
            <a:r>
              <a:t>• Client-Side ZK Witness: Prover generates zk-SNARK in local browser memory in &lt; 1.5 seconds.</a:t>
            </a:r>
          </a:p>
          <a:p>
            <a:pPr>
              <a:defRPr sz="1300">
                <a:solidFill>
                  <a:srgbClr val="F3F4F6"/>
                </a:solidFill>
              </a:defRPr>
            </a:pPr>
            <a:r>
              <a:t>• Zero Balance Disclosure: Proves asset &gt;= threshold ($100k+, $5M+) without disclosing exact amount.</a:t>
            </a:r>
          </a:p>
          <a:p>
            <a:pPr>
              <a:defRPr sz="1300">
                <a:solidFill>
                  <a:srgbClr val="F3F4F6"/>
                </a:solidFill>
              </a:defRPr>
            </a:pPr>
            <a:r>
              <a:t>• Anti-Replay Nullifiers: Poseidon hash nullifiers prevent credential reuse and identity clustering.</a:t>
            </a:r>
          </a:p>
          <a:p>
            <a:pPr>
              <a:defRPr sz="1300">
                <a:solidFill>
                  <a:srgbClr val="F3F4F6"/>
                </a:solidFill>
              </a:defRPr>
            </a:pPr>
            <a:r>
              <a:t>• Soulbound Verifiable Credential: Instant on-chain attestation for DeFi vaults, launchpads &amp; RWAs.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48640"/>
            <a:ext cx="103628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C7B7"/>
                </a:solidFill>
              </a:defRPr>
            </a:pPr>
            <a:r>
              <a:t>Dual-State Architecture &amp; Formal Privacy Model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645920"/>
            <a:ext cx="3291840" cy="4572000"/>
          </a:xfrm>
          <a:prstGeom prst="roundRect">
            <a:avLst/>
          </a:prstGeom>
          <a:solidFill>
            <a:srgbClr val="131A2B"/>
          </a:solidFill>
          <a:ln w="1905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828800"/>
            <a:ext cx="29260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8B5CF6"/>
                </a:solidFill>
              </a:defRPr>
            </a:pPr>
            <a:r>
              <a:t>🔒 Private Witness</a:t>
            </a:r>
            <a:br/>
            <a:r>
              <a:t>(Local Prover Only)</a:t>
            </a:r>
          </a:p>
          <a:p>
            <a:pPr>
              <a:defRPr sz="1300">
                <a:solidFill>
                  <a:srgbClr val="F3F4F6"/>
                </a:solidFill>
              </a:defRPr>
            </a:pPr>
            <a:r>
              <a:t>✔ user_asset_value (e.g. $150,000)</a:t>
            </a:r>
          </a:p>
          <a:p>
            <a:pPr>
              <a:defRPr sz="1300">
                <a:solidFill>
                  <a:srgbClr val="F3F4F6"/>
                </a:solidFill>
              </a:defRPr>
            </a:pPr>
            <a:r>
              <a:t>✔ user_secret_salt (256-bit entropy)</a:t>
            </a:r>
          </a:p>
          <a:p>
            <a:pPr>
              <a:defRPr sz="1300">
                <a:solidFill>
                  <a:srgbClr val="F3F4F6"/>
                </a:solidFill>
              </a:defRPr>
            </a:pPr>
            <a:r>
              <a:t>✔ Never sent over network</a:t>
            </a:r>
          </a:p>
          <a:p>
            <a:pPr>
              <a:defRPr sz="1300">
                <a:solidFill>
                  <a:srgbClr val="F3F4F6"/>
                </a:solidFill>
              </a:defRPr>
            </a:pPr>
            <a:r>
              <a:t>✔ Kept in local browser RAM</a:t>
            </a:r>
          </a:p>
          <a:p>
            <a:pPr>
              <a:defRPr sz="1300">
                <a:solidFill>
                  <a:srgbClr val="F3F4F6"/>
                </a:solidFill>
              </a:defRPr>
            </a:pPr>
            <a:r>
              <a:t>✔ Zero server honeypots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49470" y="1645920"/>
            <a:ext cx="3291840" cy="4572000"/>
          </a:xfrm>
          <a:prstGeom prst="roundRect">
            <a:avLst/>
          </a:prstGeom>
          <a:solidFill>
            <a:srgbClr val="131A2B"/>
          </a:solidFill>
          <a:ln w="19050">
            <a:solidFill>
              <a:srgbClr val="00C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32350" y="1828800"/>
            <a:ext cx="29260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0C7B7"/>
                </a:solidFill>
              </a:defRPr>
            </a:pPr>
            <a:r>
              <a:t>⚡ Compact Circuit</a:t>
            </a:r>
            <a:br/>
            <a:r>
              <a:t>(zk-SNARK Engine)</a:t>
            </a:r>
          </a:p>
          <a:p>
            <a:pPr>
              <a:defRPr sz="1300">
                <a:solidFill>
                  <a:srgbClr val="F3F4F6"/>
                </a:solidFill>
              </a:defRPr>
            </a:pPr>
            <a:r>
              <a:t>✔ assert asset &gt;= threshold</a:t>
            </a:r>
          </a:p>
          <a:p>
            <a:pPr>
              <a:defRPr sz="1300">
                <a:solidFill>
                  <a:srgbClr val="F3F4F6"/>
                </a:solidFill>
              </a:defRPr>
            </a:pPr>
            <a:r>
              <a:t>✔ Threshold: $100k, $5M, $25M</a:t>
            </a:r>
          </a:p>
          <a:p>
            <a:pPr>
              <a:defRPr sz="1300">
                <a:solidFill>
                  <a:srgbClr val="F3F4F6"/>
                </a:solidFill>
              </a:defRPr>
            </a:pPr>
            <a:r>
              <a:t>✔ Nullifier = hash(salt, nonce)</a:t>
            </a:r>
          </a:p>
          <a:p>
            <a:pPr>
              <a:defRPr sz="1300">
                <a:solidFill>
                  <a:srgbClr val="F3F4F6"/>
                </a:solidFill>
              </a:defRPr>
            </a:pPr>
            <a:r>
              <a:t>✔ Proving time: ~1.2 seconds</a:t>
            </a:r>
          </a:p>
          <a:p>
            <a:pPr>
              <a:defRPr sz="1300">
                <a:solidFill>
                  <a:srgbClr val="F3F4F6"/>
                </a:solidFill>
              </a:defRPr>
            </a:pPr>
            <a:r>
              <a:t>✔ Groth16 / PLONK constraints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85455" y="1645920"/>
            <a:ext cx="3291840" cy="4572000"/>
          </a:xfrm>
          <a:prstGeom prst="roundRect">
            <a:avLst/>
          </a:prstGeom>
          <a:solidFill>
            <a:srgbClr val="131A2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68335" y="1828800"/>
            <a:ext cx="29260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0B981"/>
                </a:solidFill>
              </a:defRPr>
            </a:pPr>
            <a:r>
              <a:t>🌐 Public Ledger</a:t>
            </a:r>
            <a:br/>
            <a:r>
              <a:t>(Midnight Preprod)</a:t>
            </a:r>
          </a:p>
          <a:p>
            <a:pPr>
              <a:defRPr sz="1300">
                <a:solidFill>
                  <a:srgbClr val="F3F4F6"/>
                </a:solidFill>
              </a:defRPr>
            </a:pPr>
            <a:r>
              <a:t>✔ verified_nullifiers: Set&lt;Bytes32&gt;</a:t>
            </a:r>
          </a:p>
          <a:p>
            <a:pPr>
              <a:defRPr sz="1300">
                <a:solidFill>
                  <a:srgbClr val="F3F4F6"/>
                </a:solidFill>
              </a:defRPr>
            </a:pPr>
            <a:r>
              <a:t>✔ total_verified_investors (+1)</a:t>
            </a:r>
          </a:p>
          <a:p>
            <a:pPr>
              <a:defRPr sz="1300">
                <a:solidFill>
                  <a:srgbClr val="F3F4F6"/>
                </a:solidFill>
              </a:defRPr>
            </a:pPr>
            <a:r>
              <a:t>✔ Contract: midnight1contract...</a:t>
            </a:r>
          </a:p>
          <a:p>
            <a:pPr>
              <a:defRPr sz="1300">
                <a:solidFill>
                  <a:srgbClr val="F3F4F6"/>
                </a:solidFill>
              </a:defRPr>
            </a:pPr>
            <a:r>
              <a:t>✔ Chain ID: 420 (Preprod)</a:t>
            </a:r>
          </a:p>
          <a:p>
            <a:pPr>
              <a:defRPr sz="1300">
                <a:solidFill>
                  <a:srgbClr val="F3F4F6"/>
                </a:solidFill>
              </a:defRPr>
            </a:pPr>
            <a:r>
              <a:t>✔ Immutable Soulbound Status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48640"/>
            <a:ext cx="103628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C7B7"/>
                </a:solidFill>
              </a:defRPr>
            </a:pPr>
            <a:r>
              <a:t>Interactive Glassmorphic DApp Features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645920"/>
            <a:ext cx="4937760" cy="4572000"/>
          </a:xfrm>
          <a:prstGeom prst="roundRect">
            <a:avLst/>
          </a:prstGeom>
          <a:solidFill>
            <a:srgbClr val="131A2B"/>
          </a:solidFill>
          <a:ln w="1905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828800"/>
            <a:ext cx="4572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8B5CF6"/>
                </a:solidFill>
              </a:defRPr>
            </a:pPr>
            <a:r>
              <a:t>Core User Flow &amp; Capabilities</a:t>
            </a:r>
          </a:p>
          <a:p>
            <a:pPr>
              <a:defRPr sz="1200">
                <a:solidFill>
                  <a:srgbClr val="F3F4F6"/>
                </a:solidFill>
              </a:defRPr>
            </a:pPr>
            <a:r>
              <a:t>• Lace Wallet Connector: Connects to Midnight Preprod with 1-Click Demo wallet fallback.</a:t>
            </a:r>
          </a:p>
          <a:p>
            <a:pPr>
              <a:defRPr sz="1200">
                <a:solidFill>
                  <a:srgbClr val="F3F4F6"/>
                </a:solidFill>
              </a:defRPr>
            </a:pPr>
            <a:r>
              <a:t>• Tier Selector: Accredited ($100k+), Qualified Purchaser ($5M+), Institutional Whale ($25M+).</a:t>
            </a:r>
          </a:p>
          <a:p>
            <a:pPr>
              <a:defRPr sz="1200">
                <a:solidFill>
                  <a:srgbClr val="F3F4F6"/>
                </a:solidFill>
              </a:defRPr>
            </a:pPr>
            <a:r>
              <a:t>• Local ZK Synthesizer: Real-time polynomial constraint solving and proof generation visualizer.</a:t>
            </a:r>
          </a:p>
          <a:p>
            <a:pPr>
              <a:defRPr sz="1200">
                <a:solidFill>
                  <a:srgbClr val="F3F4F6"/>
                </a:solidFill>
              </a:defRPr>
            </a:pPr>
            <a:r>
              <a:t>• Dual-State Privacy Inspector: Side-by-side public vs private data flow inspector.</a:t>
            </a:r>
          </a:p>
          <a:p>
            <a:pPr>
              <a:defRPr sz="1200">
                <a:solidFill>
                  <a:srgbClr val="F3F4F6"/>
                </a:solidFill>
              </a:defRPr>
            </a:pPr>
            <a:r>
              <a:t>• Permissioned DeFi Vault Demo: Unlocks VIP Aave-style lending vaults upon on-chain proof confirmation.</a:t>
            </a:r>
          </a:p>
        </p:txBody>
      </p:sp>
      <p:pic>
        <p:nvPicPr>
          <p:cNvPr id="6" name="Picture 5" descr="product-u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45920"/>
            <a:ext cx="50292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48640"/>
            <a:ext cx="103628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C7B7"/>
                </a:solidFill>
              </a:defRPr>
            </a:pPr>
            <a:r>
              <a:t>🏆 Rise In Submission Checklist (Levels 1, 2, 3)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645920"/>
            <a:ext cx="10362895" cy="4572000"/>
          </a:xfrm>
          <a:prstGeom prst="roundRect">
            <a:avLst/>
          </a:prstGeom>
          <a:solidFill>
            <a:srgbClr val="131A2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1828800"/>
            <a:ext cx="97840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0B981"/>
                </a:solidFill>
              </a:defRPr>
            </a:pPr>
            <a:r>
              <a:t>100% Submission Criteria Fulfilled</a:t>
            </a:r>
          </a:p>
          <a:p>
            <a:pPr>
              <a:defRPr sz="1300">
                <a:solidFill>
                  <a:srgbClr val="F3F4F6"/>
                </a:solidFill>
              </a:defRPr>
            </a:pPr>
            <a:r>
              <a:t>✅ APPROVED | Level 1: New Moon: Compact Contract + managed/ Bindings + Preprod Deployment</a:t>
            </a:r>
          </a:p>
          <a:p>
            <a:pPr>
              <a:defRPr sz="1300">
                <a:solidFill>
                  <a:srgbClr val="F3F4F6"/>
                </a:solidFill>
              </a:defRPr>
            </a:pPr>
            <a:r>
              <a:t>✅ APPROVED | Level 2: Waxing Crescent: Lace Wallet Connector + Frontend ZK Prover + Demo Video</a:t>
            </a:r>
          </a:p>
          <a:p>
            <a:pPr>
              <a:defRPr sz="1300">
                <a:solidFill>
                  <a:srgbClr val="F3F4F6"/>
                </a:solidFill>
              </a:defRPr>
            </a:pPr>
            <a:r>
              <a:t>✅ APPROVED | Level 3: First Quarter: CI/CD Pipeline + 4/4 Vitest Tests + Approved Idea Proposal</a:t>
            </a:r>
          </a:p>
          <a:p>
            <a:pPr>
              <a:defRPr sz="1300">
                <a:solidFill>
                  <a:srgbClr val="F3F4F6"/>
                </a:solidFill>
              </a:defRPr>
            </a:pPr>
            <a:r>
              <a:t>✅ VERIFIED | Public GitHub Repo: github.com/Jaydeep806/MidnightGate (20+ Meaningful Commits)</a:t>
            </a:r>
          </a:p>
          <a:p>
            <a:pPr>
              <a:defRPr sz="1300">
                <a:solidFill>
                  <a:srgbClr val="F3F4F6"/>
                </a:solidFill>
              </a:defRPr>
            </a:pPr>
            <a:r>
              <a:t>✅ ACTIVE | Live Production DApp: moonlightmidnightgate.netlify.app</a:t>
            </a:r>
          </a:p>
          <a:p>
            <a:pPr>
              <a:defRPr sz="1300">
                <a:solidFill>
                  <a:srgbClr val="F3F4F6"/>
                </a:solidFill>
              </a:defRPr>
            </a:pPr>
            <a:r>
              <a:t>✅ PASSED | ZK Security &amp; Audit: Passed 100% (Zero Critical / High Findings)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